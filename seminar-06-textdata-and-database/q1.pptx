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0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5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575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84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49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65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315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13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74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0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36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673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E40290A-6171-4759-9E53-61FECF7ACD33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1A05DBE-008D-41AF-95B7-570B199E5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92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02E31-66AC-4844-989A-73E9621AF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STSong" panose="02010600040101010101" pitchFamily="2" charset="-122"/>
                <a:ea typeface="STSong" panose="02010600040101010101" pitchFamily="2" charset="-122"/>
                <a:cs typeface="Times New Roman" panose="02020603050405020304" pitchFamily="18" charset="0"/>
              </a:rPr>
              <a:t>Основные принципы структуризации и нормализации баз данных</a:t>
            </a:r>
            <a:br>
              <a:rPr lang="ru-RU" sz="4000" dirty="0">
                <a:effectLst/>
                <a:latin typeface="STSong" panose="02010600040101010101" pitchFamily="2" charset="-122"/>
                <a:ea typeface="STSong" panose="02010600040101010101" pitchFamily="2" charset="-122"/>
                <a:cs typeface="Times New Roman" panose="02020603050405020304" pitchFamily="18" charset="0"/>
              </a:rPr>
            </a:br>
            <a:endParaRPr lang="ru-RU" sz="4000" dirty="0">
              <a:latin typeface="STSong" panose="02010600040101010101" pitchFamily="2" charset="-122"/>
              <a:ea typeface="STSong" panose="02010600040101010101" pitchFamily="2" charset="-122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377708-8F13-4502-A641-9D4FFF71C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27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DB5AA-EBC2-431F-B12D-577EA16A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STSong" panose="02010600040101010101" pitchFamily="2" charset="-122"/>
                <a:ea typeface="STSong" panose="02010600040101010101" pitchFamily="2" charset="-122"/>
                <a:cs typeface="Times New Roman" panose="02020603050405020304" pitchFamily="18" charset="0"/>
              </a:rPr>
              <a:t>Основные принципы структурирования БД</a:t>
            </a:r>
            <a:br>
              <a:rPr lang="ru-RU" sz="2800" dirty="0">
                <a:effectLst/>
                <a:latin typeface="STSong" panose="02010600040101010101" pitchFamily="2" charset="-122"/>
                <a:ea typeface="STSong" panose="02010600040101010101" pitchFamily="2" charset="-122"/>
                <a:cs typeface="Times New Roman" panose="02020603050405020304" pitchFamily="18" charset="0"/>
              </a:rPr>
            </a:br>
            <a:endParaRPr lang="ru-RU" sz="2800" dirty="0">
              <a:latin typeface="STSong" panose="02010600040101010101" pitchFamily="2" charset="-122"/>
              <a:ea typeface="STSong" panose="02010600040101010101" pitchFamily="2" charset="-12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594C74-5DF5-454A-951D-D27CE5CE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База данных (БД)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 это упорядоченный набор данных о конкретной области (например, о клиентах, заказах или товарах).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СУБД (Система управления базами данных)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 это программа, которая позволяет создавать базы, работать с ними (добавлять, искать, изменять данные) и управлять доступом.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83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41B430-6807-4B35-841E-6CA2C970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399B7-C233-4D86-9470-439FAB0A8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требования к хорошей БД: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Производительность: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Быстрый ответ на запросы.</a:t>
            </a:r>
            <a:endParaRPr lang="ru-RU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Отсутствие избыточности: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Данные не должны дублироваться.</a:t>
            </a:r>
            <a:endParaRPr lang="ru-RU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Целостность: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Данные должны быть точными и непротиворечивыми.</a:t>
            </a:r>
            <a:endParaRPr lang="ru-RU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Безопасность: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Защита от несанкционированного доступа.</a:t>
            </a:r>
            <a:endParaRPr lang="ru-RU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Удобство: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Простота использования и обновления информации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474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BFAD5-3A07-4F32-806E-8EA73EF2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TSong" panose="02010600040101010101" pitchFamily="2" charset="-122"/>
                <a:ea typeface="STSong" panose="02010600040101010101" pitchFamily="2" charset="-122"/>
              </a:rPr>
              <a:t>Модели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12AA36-021B-4614-AE7C-72FBBAAF1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Иерархическая модель: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Данные представляются в виде дерева. У каждого узла может быть только один родитель.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Сетевая модель: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Усовершенствование иерархической. У узла может быть несколько родителей.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Реляционная модель (самая распространенная):</a:t>
            </a:r>
            <a:r>
              <a:rPr lang="ru-RU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Данные представляются в виде набора взаимосвязанных таблиц (отношений).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9ED1C2-C306-43DD-81DB-42C6AA9E61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96" b="3700"/>
          <a:stretch/>
        </p:blipFill>
        <p:spPr>
          <a:xfrm>
            <a:off x="1063752" y="3945238"/>
            <a:ext cx="9422296" cy="37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1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1F605-9F18-451E-8116-73DAF7AA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TSong" panose="02010600040101010101" pitchFamily="2" charset="-122"/>
                <a:ea typeface="STSong" panose="02010600040101010101" pitchFamily="2" charset="-122"/>
              </a:rPr>
              <a:t>нормализация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4C5F9-8773-4064-8697-3CEC2DAB2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Нормализация</a:t>
            </a:r>
            <a:r>
              <a:rPr lang="ru-RU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— это процесс разделения одной большой таблицы на несколько связанных таблиц, чтобы устранить дублирование данных и возможные ошибки. Цель нормализации, сделать так, чтобы каждый факт хранился в базе данных только в одном месте.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8992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FA748-5510-4C78-B30E-ABD68A1A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188344-1A68-469D-A575-A2BCEF319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401545"/>
              </p:ext>
            </p:extLst>
          </p:nvPr>
        </p:nvGraphicFramePr>
        <p:xfrm>
          <a:off x="206940" y="671617"/>
          <a:ext cx="11778120" cy="551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591">
                  <a:extLst>
                    <a:ext uri="{9D8B030D-6E8A-4147-A177-3AD203B41FA5}">
                      <a16:colId xmlns:a16="http://schemas.microsoft.com/office/drawing/2014/main" val="733469173"/>
                    </a:ext>
                  </a:extLst>
                </a:gridCol>
                <a:gridCol w="8880529">
                  <a:extLst>
                    <a:ext uri="{9D8B030D-6E8A-4147-A177-3AD203B41FA5}">
                      <a16:colId xmlns:a16="http://schemas.microsoft.com/office/drawing/2014/main" val="3566092087"/>
                    </a:ext>
                  </a:extLst>
                </a:gridCol>
              </a:tblGrid>
              <a:tr h="836234"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tx1"/>
                          </a:solidFill>
                        </a:rPr>
                        <a:t>1НФ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Таблица, в которой все данные простые и неделимые (в одной ячейке — одно значение), и есть уникальный ключ (ID) для каждой строки.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3069"/>
                  </a:ext>
                </a:extLst>
              </a:tr>
              <a:tr h="824778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2НФ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Таблица должна быть в 1НФ, и все </a:t>
                      </a:r>
                      <a:r>
                        <a:rPr lang="ru-RU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неключевые</a:t>
                      </a:r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поля (столбцы) должны зависеть от всего первичного ключа.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536715"/>
                  </a:ext>
                </a:extLst>
              </a:tr>
              <a:tr h="836234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3НФ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Таблица должна быть в 2НФ, и ее </a:t>
                      </a:r>
                      <a:r>
                        <a:rPr lang="ru-RU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неключевые</a:t>
                      </a:r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поля не должны зависеть друг от друга.</a:t>
                      </a:r>
                      <a:endParaRPr lang="ru-RU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728850"/>
                  </a:ext>
                </a:extLst>
              </a:tr>
              <a:tr h="836234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НФБК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Отношение находится в НФБК, когда каждая нетривиальная и неприводимая слева функциональная зависимость обладает потенциальным ключом в качестве детерминанта.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04887"/>
                  </a:ext>
                </a:extLst>
              </a:tr>
              <a:tr h="836234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4НФ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Отношение находится в 4НФ, если оно находится в НФБК и все нетривиальные многозначные зависимости фактически являются функциональными</a:t>
                      </a:r>
                      <a:endParaRPr lang="ru-RU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018844"/>
                  </a:ext>
                </a:extLst>
              </a:tr>
              <a:tr h="513400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5НФ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Отношения находятся в 5НФ, если оно находится в 4НФ и отсутствуют сложные зависимые соединения между атрибутами. Разделять сложные связи на простые, если после этого из можно собрать.</a:t>
                      </a:r>
                    </a:p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875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82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0C327-7534-4449-9DAA-029DB8A68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56592"/>
            <a:ext cx="10058400" cy="1609344"/>
          </a:xfrm>
        </p:spPr>
        <p:txBody>
          <a:bodyPr/>
          <a:lstStyle/>
          <a:p>
            <a:r>
              <a:rPr lang="ru-RU" dirty="0">
                <a:latin typeface="STSong" panose="02010600040101010101" pitchFamily="2" charset="-122"/>
                <a:ea typeface="STSong" panose="02010600040101010101" pitchFamily="2" charset="-122"/>
              </a:rPr>
              <a:t>Назначение нормализации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73799D-B10A-4482-980C-35FE8DE85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35" y="3172038"/>
            <a:ext cx="9577487" cy="6402660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Устранить дублирование</a:t>
            </a:r>
            <a:r>
              <a:rPr lang="ru-RU" sz="2400" dirty="0"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(экономия места и усилий на обновление).</a:t>
            </a:r>
            <a:endParaRPr lang="ru-RU" sz="2400" dirty="0">
              <a:solidFill>
                <a:srgbClr val="0F1115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Предотвратить ошибки и противоречия</a:t>
            </a:r>
            <a:r>
              <a:rPr lang="ru-RU" sz="2400" dirty="0"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(например, разное написание одного и того же названия в разных местах).</a:t>
            </a:r>
            <a:endParaRPr lang="ru-RU" sz="2400" dirty="0">
              <a:solidFill>
                <a:srgbClr val="0F1115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Сделать структуру базы логичной и понятной.</a:t>
            </a:r>
            <a:endParaRPr lang="ru-RU" sz="2400" dirty="0">
              <a:solidFill>
                <a:srgbClr val="0F1115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283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6265D-34E3-4226-99F8-D1840BFA8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31C173-F3D4-4EF2-B297-3F82EB53D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114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39</TotalTime>
  <Words>377</Words>
  <Application>Microsoft Office PowerPoint</Application>
  <PresentationFormat>Широкоэкранный</PresentationFormat>
  <Paragraphs>32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STSong</vt:lpstr>
      <vt:lpstr>Calibri</vt:lpstr>
      <vt:lpstr>Cambria</vt:lpstr>
      <vt:lpstr>Rockwell</vt:lpstr>
      <vt:lpstr>Rockwell Condensed</vt:lpstr>
      <vt:lpstr>Segoe UI</vt:lpstr>
      <vt:lpstr>Symbol</vt:lpstr>
      <vt:lpstr>Times New Roman</vt:lpstr>
      <vt:lpstr>Wingdings</vt:lpstr>
      <vt:lpstr>Дерево</vt:lpstr>
      <vt:lpstr>Основные принципы структуризации и нормализации баз данных </vt:lpstr>
      <vt:lpstr>Основные принципы структурирования БД </vt:lpstr>
      <vt:lpstr>Презентация PowerPoint</vt:lpstr>
      <vt:lpstr>Модели данных</vt:lpstr>
      <vt:lpstr>нормализация</vt:lpstr>
      <vt:lpstr>Презентация PowerPoint</vt:lpstr>
      <vt:lpstr>Назначение нормализации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принципы структуризации и нормализации баз данных </dc:title>
  <dc:creator>Ivanova</dc:creator>
  <cp:lastModifiedBy>Ivanova</cp:lastModifiedBy>
  <cp:revision>2</cp:revision>
  <dcterms:created xsi:type="dcterms:W3CDTF">2025-10-29T12:19:14Z</dcterms:created>
  <dcterms:modified xsi:type="dcterms:W3CDTF">2025-10-29T12:59:03Z</dcterms:modified>
</cp:coreProperties>
</file>